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42"/>
  </p:notesMasterIdLst>
  <p:sldIdLst>
    <p:sldId id="293" r:id="rId2"/>
    <p:sldId id="294" r:id="rId3"/>
    <p:sldId id="295" r:id="rId4"/>
    <p:sldId id="260" r:id="rId5"/>
    <p:sldId id="296" r:id="rId6"/>
    <p:sldId id="298" r:id="rId7"/>
    <p:sldId id="297" r:id="rId8"/>
    <p:sldId id="299" r:id="rId9"/>
    <p:sldId id="300" r:id="rId10"/>
    <p:sldId id="301" r:id="rId11"/>
    <p:sldId id="303" r:id="rId12"/>
    <p:sldId id="267" r:id="rId13"/>
    <p:sldId id="302" r:id="rId14"/>
    <p:sldId id="304" r:id="rId15"/>
    <p:sldId id="282" r:id="rId16"/>
    <p:sldId id="268" r:id="rId17"/>
    <p:sldId id="269" r:id="rId18"/>
    <p:sldId id="270" r:id="rId19"/>
    <p:sldId id="305" r:id="rId20"/>
    <p:sldId id="272" r:id="rId21"/>
    <p:sldId id="273" r:id="rId22"/>
    <p:sldId id="274" r:id="rId23"/>
    <p:sldId id="275" r:id="rId24"/>
    <p:sldId id="306" r:id="rId25"/>
    <p:sldId id="276" r:id="rId26"/>
    <p:sldId id="277" r:id="rId27"/>
    <p:sldId id="279" r:id="rId28"/>
    <p:sldId id="308" r:id="rId29"/>
    <p:sldId id="307" r:id="rId30"/>
    <p:sldId id="314" r:id="rId31"/>
    <p:sldId id="309" r:id="rId32"/>
    <p:sldId id="281" r:id="rId33"/>
    <p:sldId id="291" r:id="rId34"/>
    <p:sldId id="283" r:id="rId35"/>
    <p:sldId id="284" r:id="rId36"/>
    <p:sldId id="310" r:id="rId37"/>
    <p:sldId id="311" r:id="rId38"/>
    <p:sldId id="312" r:id="rId39"/>
    <p:sldId id="285" r:id="rId40"/>
    <p:sldId id="31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059D67-ED5A-4CBA-9D5F-F8CC19D3A637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46AEA-5C0F-40F5-8027-90B3C1B6F2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2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C46AEA-5C0F-40F5-8027-90B3C1B6F26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23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E94D9-75FD-40B4-968C-2EBAE1527728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B287-79E2-4F4B-BE97-658FAF7E99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09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E94D9-75FD-40B4-968C-2EBAE1527728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B287-79E2-4F4B-BE97-658FAF7E99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59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E94D9-75FD-40B4-968C-2EBAE1527728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B287-79E2-4F4B-BE97-658FAF7E99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2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E94D9-75FD-40B4-968C-2EBAE1527728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B287-79E2-4F4B-BE97-658FAF7E99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270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E94D9-75FD-40B4-968C-2EBAE1527728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B287-79E2-4F4B-BE97-658FAF7E99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4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E94D9-75FD-40B4-968C-2EBAE1527728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B287-79E2-4F4B-BE97-658FAF7E99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06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E94D9-75FD-40B4-968C-2EBAE1527728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B287-79E2-4F4B-BE97-658FAF7E99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33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E94D9-75FD-40B4-968C-2EBAE1527728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B287-79E2-4F4B-BE97-658FAF7E99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80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E94D9-75FD-40B4-968C-2EBAE1527728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B287-79E2-4F4B-BE97-658FAF7E99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E94D9-75FD-40B4-968C-2EBAE1527728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B287-79E2-4F4B-BE97-658FAF7E99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20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E94D9-75FD-40B4-968C-2EBAE1527728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B287-79E2-4F4B-BE97-658FAF7E99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6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E94D9-75FD-40B4-968C-2EBAE1527728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7B287-79E2-4F4B-BE97-658FAF7E99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41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fd.metro.tokyo.lg.jp/eng/mob/05/05-2-1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5941" y="470430"/>
            <a:ext cx="6252882" cy="116490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algn="ctr">
              <a:spcBef>
                <a:spcPts val="88"/>
              </a:spcBef>
            </a:pPr>
            <a:r>
              <a:rPr sz="4236" b="1" spc="-4" dirty="0">
                <a:solidFill>
                  <a:srgbClr val="92D050"/>
                </a:solidFill>
                <a:latin typeface="Arial"/>
                <a:cs typeface="Arial"/>
              </a:rPr>
              <a:t>Disaster</a:t>
            </a:r>
            <a:r>
              <a:rPr sz="4236" b="1" spc="-40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4236" b="1" spc="-4" dirty="0">
                <a:solidFill>
                  <a:srgbClr val="92D050"/>
                </a:solidFill>
                <a:latin typeface="Arial"/>
                <a:cs typeface="Arial"/>
              </a:rPr>
              <a:t>Management</a:t>
            </a:r>
            <a:r>
              <a:rPr lang="en-US" sz="3177" b="1" spc="-4" dirty="0">
                <a:solidFill>
                  <a:srgbClr val="C00000"/>
                </a:solidFill>
                <a:latin typeface="Arial"/>
                <a:cs typeface="Arial"/>
              </a:rPr>
              <a:t>: </a:t>
            </a:r>
          </a:p>
          <a:p>
            <a:pPr marL="11206" algn="ctr">
              <a:spcBef>
                <a:spcPts val="88"/>
              </a:spcBef>
            </a:pPr>
            <a:r>
              <a:rPr lang="en-US" sz="3177" b="1" spc="-4" dirty="0" smtClean="0">
                <a:solidFill>
                  <a:srgbClr val="C00000"/>
                </a:solidFill>
                <a:latin typeface="Arial"/>
                <a:cs typeface="Arial"/>
              </a:rPr>
              <a:t>Earthquakes</a:t>
            </a:r>
            <a:endParaRPr sz="3177" dirty="0">
              <a:latin typeface="Arial"/>
              <a:cs typeface="Arial"/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470" y="2689412"/>
            <a:ext cx="1748118" cy="174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240615" y="1928143"/>
            <a:ext cx="3101170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IN" altLang="en-US" b="1" dirty="0"/>
              <a:t>IDM Subject Code : CHM 2042</a:t>
            </a:r>
          </a:p>
        </p:txBody>
      </p:sp>
    </p:spTree>
    <p:extLst>
      <p:ext uri="{BB962C8B-B14F-4D97-AF65-F5344CB8AC3E}">
        <p14:creationId xmlns:p14="http://schemas.microsoft.com/office/powerpoint/2010/main" val="423415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95"/>
    </mc:Choice>
    <mc:Fallback xmlns="">
      <p:transition spd="slow" advTm="17695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298" y="290174"/>
            <a:ext cx="10515600" cy="1325563"/>
          </a:xfrm>
        </p:spPr>
        <p:txBody>
          <a:bodyPr/>
          <a:lstStyle/>
          <a:p>
            <a:r>
              <a:rPr lang="en-US" b="1" dirty="0" smtClean="0"/>
              <a:t>Earthquake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846555"/>
            <a:ext cx="10269725" cy="3941686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An</a:t>
            </a:r>
            <a:r>
              <a:rPr lang="en-US" dirty="0"/>
              <a:t> </a:t>
            </a:r>
            <a:r>
              <a:rPr lang="en-US" b="1" dirty="0"/>
              <a:t>earthquake</a:t>
            </a:r>
            <a:r>
              <a:rPr lang="en-US" dirty="0"/>
              <a:t> is the shaking of the surface of the Earth resulting from a sudden release of energy in the Earth's lithosphere that creates seismic waves.</a:t>
            </a:r>
          </a:p>
          <a:p>
            <a:pPr algn="just"/>
            <a:r>
              <a:rPr lang="en-US" dirty="0" smtClean="0"/>
              <a:t>It is one </a:t>
            </a:r>
            <a:r>
              <a:rPr lang="en-US" dirty="0" smtClean="0"/>
              <a:t>of the worst natural hazards which often turn into disaster causing widespread destruction and loss to human life.</a:t>
            </a:r>
          </a:p>
          <a:p>
            <a:pPr algn="just"/>
            <a:r>
              <a:rPr lang="en-US" dirty="0" smtClean="0"/>
              <a:t>The effect of earthquake vary often </a:t>
            </a:r>
            <a:r>
              <a:rPr lang="en-US" dirty="0" smtClean="0"/>
              <a:t>with the </a:t>
            </a:r>
            <a:r>
              <a:rPr lang="en-US" dirty="0" smtClean="0"/>
              <a:t>magnitude and intensity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 smtClean="0"/>
              <a:t>Earthquake occur every now and then all round the world, except in some places where earthquake occur rarely.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 smtClean="0"/>
              <a:t>devastation of cities and towns is one of the effects of earthquake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030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770" y="1713390"/>
            <a:ext cx="5000872" cy="3737500"/>
          </a:xfrm>
        </p:spPr>
        <p:txBody>
          <a:bodyPr/>
          <a:lstStyle/>
          <a:p>
            <a:pPr algn="just"/>
            <a:r>
              <a:rPr lang="en-US" dirty="0" smtClean="0"/>
              <a:t>The seismic activity of an area refers to the </a:t>
            </a:r>
            <a:r>
              <a:rPr lang="en-US" dirty="0" smtClean="0"/>
              <a:t>frequency, </a:t>
            </a:r>
            <a:r>
              <a:rPr lang="en-US" dirty="0" smtClean="0"/>
              <a:t>type and size </a:t>
            </a:r>
            <a:r>
              <a:rPr lang="en-US" dirty="0" smtClean="0"/>
              <a:t>of earthquakes </a:t>
            </a:r>
            <a:r>
              <a:rPr lang="en-US" dirty="0" smtClean="0"/>
              <a:t>experienced over a period of time.</a:t>
            </a:r>
            <a:endParaRPr lang="en-US" dirty="0"/>
          </a:p>
        </p:txBody>
      </p:sp>
      <p:sp>
        <p:nvSpPr>
          <p:cNvPr id="4" name="AutoShape 2" descr="Powerful earthquake strikes eastern Turkey | News | DW | 24.01.202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073" y="502635"/>
            <a:ext cx="6144627" cy="34300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074" y="3958303"/>
            <a:ext cx="6144626" cy="246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ocus(Hypocenter):&#10;Focus is the point on the fault&#10;where rupture occurs and the&#10;location from which seismic&#10;waves are rele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292" y="84988"/>
            <a:ext cx="10582910" cy="6630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13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369" y="99702"/>
            <a:ext cx="10018713" cy="1301396"/>
          </a:xfrm>
        </p:spPr>
        <p:txBody>
          <a:bodyPr/>
          <a:lstStyle/>
          <a:p>
            <a:r>
              <a:rPr lang="en-US" b="1" dirty="0" smtClean="0"/>
              <a:t>Term related to Earthquake: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689" y="1278384"/>
            <a:ext cx="5704643" cy="491823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b="1" dirty="0" smtClean="0"/>
              <a:t>Focus ( Hypocenter):</a:t>
            </a:r>
          </a:p>
          <a:p>
            <a:pPr marL="0" indent="0" algn="just">
              <a:buNone/>
            </a:pPr>
            <a:r>
              <a:rPr lang="en-US" dirty="0" smtClean="0"/>
              <a:t>Focus </a:t>
            </a:r>
            <a:r>
              <a:rPr lang="en-US" dirty="0" smtClean="0"/>
              <a:t>is the </a:t>
            </a:r>
            <a:r>
              <a:rPr lang="en-US" dirty="0" smtClean="0"/>
              <a:t>point on the fault where rupture occurs and the location from which seismic waves are released.</a:t>
            </a:r>
          </a:p>
          <a:p>
            <a:pPr marL="0" indent="0" algn="just">
              <a:buNone/>
            </a:pPr>
            <a:r>
              <a:rPr lang="en-US" b="1" dirty="0" smtClean="0"/>
              <a:t>Epicenter:</a:t>
            </a:r>
          </a:p>
          <a:p>
            <a:pPr marL="0" indent="0" algn="just">
              <a:buNone/>
            </a:pPr>
            <a:r>
              <a:rPr lang="en-US" dirty="0" smtClean="0"/>
              <a:t>Epicenter is the point on the earth surface that is directly above the focus . The point where an earthquake or underground explosion originates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b="1" dirty="0" smtClean="0"/>
              <a:t>Fault: </a:t>
            </a:r>
            <a:r>
              <a:rPr lang="en-US" dirty="0"/>
              <a:t>A fault is a weak line in the Earth where rocks break and slide, causing an earthquake.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127" y="1514948"/>
            <a:ext cx="5160547" cy="434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39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0149" y="613146"/>
            <a:ext cx="4408357" cy="56523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Fault Line :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a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line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break or fracture in the ground that occurs when the Earth's tectonic plates move or shift and are areas where earthquakes are likely to occur.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 smtClean="0"/>
              <a:t>Fault Plane: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plane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the planar (flat) surface along which there is slip during an earthquake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b="1" dirty="0" smtClean="0"/>
              <a:t>Fault Scrap: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fault scrap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topographic expression of faulting attributed to the displacement of the land surface by movement along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The Science of Earthquakes | U.S. Geological Surve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The Science of Earthquakes | U.S. Geological Surve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517" y="834501"/>
            <a:ext cx="6293991" cy="543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743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426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arthquake Occurs?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87" y="1690688"/>
            <a:ext cx="8468032" cy="4486275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cause of an earthquake is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faults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the crust of the earth.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fault is a break or fracture between two blocks of rocks in response to stress.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movement may occur rapidly in the form of an earthquake or may occur slowly in the form of creep.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Earth scientist use the angle of the fault with respect to the surface ( known as the dip) and the direction of slip along the fault to classify faults.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796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3168" y="722670"/>
            <a:ext cx="4884174" cy="592885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Movement in narrow zones along plate boundaries causes most earthquakes. </a:t>
            </a:r>
            <a:endParaRPr lang="en-US" dirty="0" smtClean="0"/>
          </a:p>
          <a:p>
            <a:pPr algn="just"/>
            <a:r>
              <a:rPr lang="en-US" dirty="0" smtClean="0"/>
              <a:t>Most </a:t>
            </a:r>
            <a:r>
              <a:rPr lang="en-US" dirty="0"/>
              <a:t>seismic activity occurs at three types of plate </a:t>
            </a:r>
            <a:r>
              <a:rPr lang="en-US" b="1" dirty="0"/>
              <a:t>boundaries—divergent, convergent, and transform.</a:t>
            </a:r>
          </a:p>
          <a:p>
            <a:pPr algn="just"/>
            <a:r>
              <a:rPr lang="en-US" dirty="0"/>
              <a:t>As the plates move past each other, they sometimes get caught and pressure builds up. </a:t>
            </a:r>
            <a:endParaRPr lang="en-US" dirty="0" smtClean="0"/>
          </a:p>
          <a:p>
            <a:pPr algn="just"/>
            <a:r>
              <a:rPr lang="en-US" dirty="0" smtClean="0"/>
              <a:t>When </a:t>
            </a:r>
            <a:r>
              <a:rPr lang="en-US" dirty="0"/>
              <a:t>the plates finally give and slip due to the increased pressure, energy is released as seismic waves, causing the ground to shake. This is an </a:t>
            </a:r>
            <a:r>
              <a:rPr lang="en-US" b="1" dirty="0"/>
              <a:t>earthquake.</a:t>
            </a:r>
          </a:p>
          <a:p>
            <a:pPr algn="just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908" y="2327522"/>
            <a:ext cx="5678675" cy="183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499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955" y="290410"/>
            <a:ext cx="10515600" cy="709306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Classification of </a:t>
            </a:r>
            <a:r>
              <a:rPr lang="en-US" sz="3200" b="1" dirty="0" smtClean="0"/>
              <a:t>Faults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2665" y="999716"/>
            <a:ext cx="5636342" cy="53715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Normal Faults:</a:t>
            </a:r>
          </a:p>
          <a:p>
            <a:pPr marL="0" indent="0" algn="just">
              <a:buNone/>
            </a:pPr>
            <a:r>
              <a:rPr lang="en-US" sz="2400" dirty="0" smtClean="0"/>
              <a:t>A </a:t>
            </a:r>
            <a:r>
              <a:rPr lang="en-US" sz="2400" dirty="0"/>
              <a:t>geologic </a:t>
            </a:r>
            <a:r>
              <a:rPr lang="en-US" sz="2400" b="1" dirty="0"/>
              <a:t>fault</a:t>
            </a:r>
            <a:r>
              <a:rPr lang="en-US" sz="2400" dirty="0"/>
              <a:t> in which the hanging wall has moved downward relative to the footwall. </a:t>
            </a:r>
            <a:r>
              <a:rPr lang="en-US" sz="2400" b="1" dirty="0"/>
              <a:t>Normal faults</a:t>
            </a:r>
            <a:r>
              <a:rPr lang="en-US" sz="2400" dirty="0"/>
              <a:t> occur where two blocks of rock are pulled apart, as by tension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Reverse Faults:</a:t>
            </a:r>
          </a:p>
          <a:p>
            <a:pPr marL="0" indent="0" algn="just">
              <a:buNone/>
            </a:pPr>
            <a:r>
              <a:rPr lang="en-US" sz="2400" b="1" dirty="0"/>
              <a:t>Reverse faults</a:t>
            </a:r>
            <a:r>
              <a:rPr lang="en-US" sz="2400" dirty="0"/>
              <a:t> are exactly the opposite of normal </a:t>
            </a:r>
            <a:r>
              <a:rPr lang="en-US" sz="2400" b="1" dirty="0"/>
              <a:t>faults</a:t>
            </a:r>
            <a:r>
              <a:rPr lang="en-US" sz="2400" dirty="0"/>
              <a:t>. If the hanging wall rises relative to the footwall, you have a </a:t>
            </a:r>
            <a:r>
              <a:rPr lang="en-US" sz="2400" b="1" dirty="0"/>
              <a:t>reverse fault</a:t>
            </a:r>
            <a:r>
              <a:rPr lang="en-US" sz="2400" dirty="0"/>
              <a:t>. </a:t>
            </a:r>
            <a:r>
              <a:rPr lang="en-US" sz="2400" b="1" dirty="0"/>
              <a:t>Reverse faults</a:t>
            </a:r>
            <a:r>
              <a:rPr lang="en-US" sz="2400" dirty="0"/>
              <a:t> occur in areas undergoing </a:t>
            </a:r>
            <a:r>
              <a:rPr lang="en-US" sz="2400" dirty="0" smtClean="0"/>
              <a:t>compression.</a:t>
            </a:r>
          </a:p>
          <a:p>
            <a:pPr marL="0" indent="0" algn="just">
              <a:buNone/>
            </a:pPr>
            <a:r>
              <a:rPr lang="en-US" b="1" dirty="0" smtClean="0"/>
              <a:t>Strike –slip Faults:</a:t>
            </a:r>
          </a:p>
          <a:p>
            <a:pPr marL="0" indent="0" algn="just">
              <a:buNone/>
            </a:pPr>
            <a:r>
              <a:rPr lang="en-US" sz="2400" b="1" dirty="0"/>
              <a:t>Strike</a:t>
            </a:r>
            <a:r>
              <a:rPr lang="en-US" sz="2400" dirty="0"/>
              <a:t>-</a:t>
            </a:r>
            <a:r>
              <a:rPr lang="en-US" sz="2400" b="1" dirty="0"/>
              <a:t>slip fault</a:t>
            </a:r>
            <a:r>
              <a:rPr lang="en-US" sz="2400" dirty="0"/>
              <a:t>, in geology, a fracture in the rocks of Earth's crust in which the rock masses </a:t>
            </a:r>
            <a:r>
              <a:rPr lang="en-US" sz="2400" b="1" dirty="0"/>
              <a:t>slip</a:t>
            </a:r>
            <a:r>
              <a:rPr lang="en-US" sz="2400" dirty="0"/>
              <a:t> past one another parallel to the </a:t>
            </a:r>
            <a:r>
              <a:rPr lang="en-US" sz="2400" b="1" dirty="0"/>
              <a:t>strike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994" y="1376823"/>
            <a:ext cx="5147187" cy="316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50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119" y="1"/>
            <a:ext cx="10018713" cy="710214"/>
          </a:xfrm>
        </p:spPr>
        <p:txBody>
          <a:bodyPr/>
          <a:lstStyle/>
          <a:p>
            <a:r>
              <a:rPr lang="en-US" b="1" dirty="0" smtClean="0"/>
              <a:t>Causes of </a:t>
            </a:r>
            <a:r>
              <a:rPr lang="en-US" b="1" dirty="0" smtClean="0"/>
              <a:t>Earthquake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2975" y="967666"/>
            <a:ext cx="10813002" cy="547752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Types of Earthquakes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Mainly, there are four types of earthquakes namely tectonic, volcanic, collapse and explosion</a:t>
            </a:r>
            <a:r>
              <a:rPr lang="en-US" dirty="0" smtClean="0"/>
              <a:t>.</a:t>
            </a:r>
          </a:p>
          <a:p>
            <a:pPr>
              <a:lnSpc>
                <a:spcPct val="160000"/>
              </a:lnSpc>
            </a:pPr>
            <a:r>
              <a:rPr lang="en-IN" b="1" dirty="0"/>
              <a:t>Tectonic Plate </a:t>
            </a:r>
            <a:r>
              <a:rPr lang="en-IN" b="1" dirty="0" smtClean="0"/>
              <a:t>Movement: </a:t>
            </a:r>
            <a:r>
              <a:rPr lang="en-US" dirty="0"/>
              <a:t>When plates </a:t>
            </a:r>
            <a:r>
              <a:rPr lang="en-US" b="1" dirty="0"/>
              <a:t>collide, separate, or slide past each other</a:t>
            </a:r>
            <a:r>
              <a:rPr lang="en-US" dirty="0"/>
              <a:t>, stress builds up. When the stress becomes too much, it suddenly </a:t>
            </a:r>
            <a:r>
              <a:rPr lang="en-US" dirty="0" smtClean="0"/>
              <a:t>releases earthquake.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 smtClean="0"/>
              <a:t>Volcanic </a:t>
            </a:r>
            <a:r>
              <a:rPr lang="en-US" b="1" dirty="0" smtClean="0"/>
              <a:t>earthquake</a:t>
            </a:r>
            <a:r>
              <a:rPr lang="en-US" b="1" dirty="0" smtClean="0"/>
              <a:t>: </a:t>
            </a:r>
            <a:r>
              <a:rPr lang="en-US" dirty="0"/>
              <a:t>Movement of </a:t>
            </a:r>
            <a:r>
              <a:rPr lang="en-US" b="1" dirty="0"/>
              <a:t>magma (molten rock)</a:t>
            </a:r>
            <a:r>
              <a:rPr lang="en-US" dirty="0"/>
              <a:t> inside the Earth creates pressure. This pressure can crack rocks and cause </a:t>
            </a:r>
            <a:r>
              <a:rPr lang="en-US" b="1" dirty="0"/>
              <a:t>small to moderate earthquakes</a:t>
            </a:r>
            <a:r>
              <a:rPr lang="en-US" dirty="0"/>
              <a:t>.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/>
              <a:t>Faulting (Sudden Slip of Rocks</a:t>
            </a:r>
            <a:r>
              <a:rPr lang="en-US" b="1" dirty="0" smtClean="0"/>
              <a:t>): </a:t>
            </a:r>
            <a:r>
              <a:rPr lang="en-US" dirty="0"/>
              <a:t>The Earth’s crust has cracks called </a:t>
            </a:r>
            <a:r>
              <a:rPr lang="en-US" b="1" dirty="0"/>
              <a:t>faults</a:t>
            </a:r>
            <a:r>
              <a:rPr lang="en-US" dirty="0"/>
              <a:t>. Rocks on either side of a fault get stuck due to friction. When they suddenly </a:t>
            </a:r>
            <a:r>
              <a:rPr lang="en-US" dirty="0" smtClean="0"/>
              <a:t>slip, energy </a:t>
            </a:r>
            <a:r>
              <a:rPr lang="en-US" dirty="0"/>
              <a:t>is </a:t>
            </a:r>
            <a:r>
              <a:rPr lang="en-US" dirty="0" smtClean="0"/>
              <a:t>released, causing earthquake</a:t>
            </a:r>
            <a:r>
              <a:rPr lang="en-US" dirty="0"/>
              <a:t>.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IN" b="1" dirty="0"/>
              <a:t>Collapse of Underground </a:t>
            </a:r>
            <a:r>
              <a:rPr lang="en-IN" b="1" dirty="0" smtClean="0"/>
              <a:t>Structures: </a:t>
            </a:r>
            <a:r>
              <a:rPr lang="en-US" dirty="0"/>
              <a:t>Occurs due to collapse </a:t>
            </a:r>
            <a:r>
              <a:rPr lang="en-US" dirty="0" smtClean="0"/>
              <a:t>of mines, caves.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Human Activities (Man-made Causes</a:t>
            </a:r>
            <a:r>
              <a:rPr lang="en-IN" b="1" dirty="0" smtClean="0"/>
              <a:t>): </a:t>
            </a:r>
            <a:r>
              <a:rPr lang="en-IN" dirty="0"/>
              <a:t>Mining </a:t>
            </a:r>
            <a:r>
              <a:rPr lang="en-IN" dirty="0" smtClean="0"/>
              <a:t>activities, </a:t>
            </a:r>
            <a:r>
              <a:rPr lang="en-US" dirty="0"/>
              <a:t>Filling large dams (reservoir-induced seismicity</a:t>
            </a:r>
            <a:r>
              <a:rPr lang="en-US" dirty="0" smtClean="0"/>
              <a:t>), </a:t>
            </a:r>
            <a:r>
              <a:rPr lang="en-IN" dirty="0"/>
              <a:t>Underground nuclear tests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36245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660" y="665825"/>
            <a:ext cx="8126479" cy="5419767"/>
          </a:xfrm>
        </p:spPr>
      </p:pic>
    </p:spTree>
    <p:extLst>
      <p:ext uri="{BB962C8B-B14F-4D97-AF65-F5344CB8AC3E}">
        <p14:creationId xmlns:p14="http://schemas.microsoft.com/office/powerpoint/2010/main" val="116315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Seismic waves produced due&#10;to earthquake are basically&#10;divided into two major types:&#10;Body waves&#10;Surface waves&#10;Wavesproduce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186" y="255316"/>
            <a:ext cx="10043410" cy="6370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638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8071" y="575188"/>
            <a:ext cx="9293942" cy="6105832"/>
          </a:xfrm>
        </p:spPr>
        <p:txBody>
          <a:bodyPr>
            <a:normAutofit/>
          </a:bodyPr>
          <a:lstStyle/>
          <a:p>
            <a:r>
              <a:rPr lang="en-US" b="1" dirty="0" smtClean="0"/>
              <a:t>Tectonic earthquake:</a:t>
            </a:r>
          </a:p>
          <a:p>
            <a:pPr marL="0" indent="0">
              <a:buNone/>
            </a:pPr>
            <a:r>
              <a:rPr lang="en-US" dirty="0" smtClean="0"/>
              <a:t>This occurs when due to geological forces on rocks and the adjoining plate’s cause’s physical and chemical change and results in the breaking of the Earth's crust.</a:t>
            </a:r>
          </a:p>
          <a:p>
            <a:r>
              <a:rPr lang="en-US" b="1" dirty="0" smtClean="0"/>
              <a:t>Volcanic </a:t>
            </a:r>
            <a:r>
              <a:rPr lang="en-US" b="1" dirty="0"/>
              <a:t>earthquake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Results </a:t>
            </a:r>
            <a:r>
              <a:rPr lang="en-US" dirty="0"/>
              <a:t>from tectonic forces and occurs in conjunction with volcanic activity.</a:t>
            </a:r>
          </a:p>
          <a:p>
            <a:r>
              <a:rPr lang="en-US" b="1" dirty="0"/>
              <a:t>Collapse earthquake:</a:t>
            </a:r>
            <a:r>
              <a:rPr lang="en-US" dirty="0"/>
              <a:t> 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are </a:t>
            </a:r>
            <a:r>
              <a:rPr lang="en-US" dirty="0"/>
              <a:t>generally small earthquakes that occur in underground caverns and mines caused by the seismic waves which are produced from the explosion of rock on the surface.</a:t>
            </a:r>
          </a:p>
          <a:p>
            <a:r>
              <a:rPr lang="en-US" b="1" dirty="0"/>
              <a:t>Explosion earthquake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Occur </a:t>
            </a:r>
            <a:r>
              <a:rPr lang="en-US" dirty="0"/>
              <a:t>due to the detonation of a nuclear or chemical device.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756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35"/>
            <a:ext cx="10515600" cy="1035971"/>
          </a:xfrm>
        </p:spPr>
        <p:txBody>
          <a:bodyPr/>
          <a:lstStyle/>
          <a:p>
            <a:r>
              <a:rPr lang="en-US" b="1" dirty="0" smtClean="0"/>
              <a:t>Types of Seismic </a:t>
            </a:r>
            <a:r>
              <a:rPr lang="en-US" b="1" dirty="0" smtClean="0"/>
              <a:t>waves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0812" y="1415845"/>
            <a:ext cx="9642987" cy="4761118"/>
          </a:xfrm>
        </p:spPr>
        <p:txBody>
          <a:bodyPr/>
          <a:lstStyle/>
          <a:p>
            <a:r>
              <a:rPr lang="en-US" dirty="0"/>
              <a:t>The two main </a:t>
            </a:r>
            <a:r>
              <a:rPr lang="en-US" b="1" dirty="0"/>
              <a:t>types of waves</a:t>
            </a:r>
            <a:r>
              <a:rPr lang="en-US" dirty="0"/>
              <a:t> are </a:t>
            </a:r>
            <a:endParaRPr lang="en-US" dirty="0" smtClean="0"/>
          </a:p>
          <a:p>
            <a:r>
              <a:rPr lang="en-US" b="1" dirty="0" smtClean="0"/>
              <a:t>Body</a:t>
            </a:r>
            <a:r>
              <a:rPr lang="en-US" b="1" dirty="0"/>
              <a:t> waves </a:t>
            </a:r>
            <a:endParaRPr lang="en-US" b="1" dirty="0" smtClean="0"/>
          </a:p>
          <a:p>
            <a:r>
              <a:rPr lang="en-US" b="1" dirty="0"/>
              <a:t>S</a:t>
            </a:r>
            <a:r>
              <a:rPr lang="en-US" b="1" dirty="0" smtClean="0"/>
              <a:t>urface</a:t>
            </a:r>
            <a:r>
              <a:rPr lang="en-US" b="1" dirty="0"/>
              <a:t> </a:t>
            </a:r>
            <a:r>
              <a:rPr lang="en-US" b="1" dirty="0" smtClean="0"/>
              <a:t>waves</a:t>
            </a:r>
            <a:endParaRPr lang="en-US" dirty="0" smtClean="0"/>
          </a:p>
          <a:p>
            <a:pPr algn="just"/>
            <a:r>
              <a:rPr lang="en-US" dirty="0" smtClean="0"/>
              <a:t>Body</a:t>
            </a:r>
            <a:r>
              <a:rPr lang="en-US" dirty="0"/>
              <a:t> </a:t>
            </a:r>
            <a:r>
              <a:rPr lang="en-US" b="1" dirty="0"/>
              <a:t>waves</a:t>
            </a:r>
            <a:r>
              <a:rPr lang="en-US" dirty="0"/>
              <a:t> can travel through the earth's inner layers, but surface </a:t>
            </a:r>
            <a:r>
              <a:rPr lang="en-US" b="1" dirty="0"/>
              <a:t>waves</a:t>
            </a:r>
            <a:r>
              <a:rPr lang="en-US" dirty="0"/>
              <a:t> can only move along the surface of the planet like ripples on water. </a:t>
            </a:r>
            <a:r>
              <a:rPr lang="en-US" b="1" dirty="0"/>
              <a:t>Earthquakes</a:t>
            </a:r>
            <a:r>
              <a:rPr lang="en-US" dirty="0"/>
              <a:t> radiate </a:t>
            </a:r>
            <a:r>
              <a:rPr lang="en-US" b="1" dirty="0"/>
              <a:t>seismic</a:t>
            </a:r>
            <a:r>
              <a:rPr lang="en-US" dirty="0"/>
              <a:t> energy as both body and surface </a:t>
            </a:r>
            <a:r>
              <a:rPr lang="en-US" b="1" dirty="0"/>
              <a:t>waves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9289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Secondary Waves(S-wave)&#10;High frequency&#10;Short Wavelength&#10;Transverse waves&#10;Can not move through liquids&#10;Move in all directio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390" y="164892"/>
            <a:ext cx="10208302" cy="6430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750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Surface Wave:&#10;Surface waves travels parallel to the earth’s surface and these&#10;waves are slowest and most damaging. Surface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27" y="254834"/>
            <a:ext cx="10852879" cy="623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8720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Rayleigh wave&#10;Guided waves&#10;Displacement is perpendicular&#10;to love-wave displacement&#10;Rayleigh wave is slower&#10;Ground move in 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67" y="270404"/>
            <a:ext cx="10807909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038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The intensity and strength of an earthquake is measured&#10;on Richter scale,the scale invented by Charles Richter&#10;California 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29" y="284813"/>
            <a:ext cx="10328222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833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337" y="365535"/>
            <a:ext cx="10018713" cy="1460090"/>
          </a:xfrm>
        </p:spPr>
        <p:txBody>
          <a:bodyPr/>
          <a:lstStyle/>
          <a:p>
            <a:pPr algn="ctr"/>
            <a:r>
              <a:rPr lang="en-US" b="1" dirty="0" smtClean="0"/>
              <a:t>Strength of </a:t>
            </a:r>
            <a:r>
              <a:rPr lang="en-US" b="1" dirty="0" smtClean="0"/>
              <a:t>Earthquake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7574" y="1825625"/>
            <a:ext cx="8952271" cy="4351338"/>
          </a:xfrm>
        </p:spPr>
        <p:txBody>
          <a:bodyPr/>
          <a:lstStyle/>
          <a:p>
            <a:pPr algn="just"/>
            <a:r>
              <a:rPr lang="en-US" dirty="0" smtClean="0"/>
              <a:t>The intensity and strength of an earthquake is measured on Richter scale , the scale invented by Charles Richter California, USA in </a:t>
            </a:r>
            <a:r>
              <a:rPr lang="en-US" dirty="0" smtClean="0"/>
              <a:t>1935, which </a:t>
            </a:r>
            <a:r>
              <a:rPr lang="en-US" dirty="0" err="1" smtClean="0"/>
              <a:t>categorises</a:t>
            </a:r>
            <a:r>
              <a:rPr lang="en-US" dirty="0" smtClean="0"/>
              <a:t> </a:t>
            </a:r>
            <a:r>
              <a:rPr lang="en-US" dirty="0" smtClean="0"/>
              <a:t>earthquake on the </a:t>
            </a:r>
            <a:r>
              <a:rPr lang="en-US" dirty="0" smtClean="0"/>
              <a:t>basis </a:t>
            </a:r>
            <a:r>
              <a:rPr lang="en-US" dirty="0" smtClean="0"/>
              <a:t>of energy release.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 smtClean="0"/>
              <a:t>logarithm to base ten of the maximum seismic wave amplitude recorded on a standard</a:t>
            </a:r>
            <a:r>
              <a:rPr lang="en-US" b="1" dirty="0" smtClean="0"/>
              <a:t> Seismograph </a:t>
            </a:r>
            <a:r>
              <a:rPr lang="en-US" dirty="0" smtClean="0"/>
              <a:t>at a distance of 100 kilometers from the earthquake epicenter.</a:t>
            </a:r>
          </a:p>
          <a:p>
            <a:pPr algn="just"/>
            <a:r>
              <a:rPr lang="en-US" b="1" dirty="0" smtClean="0"/>
              <a:t>Seismograph</a:t>
            </a:r>
            <a:r>
              <a:rPr lang="en-US" dirty="0" smtClean="0"/>
              <a:t> is the scientific study of earthquakes and the propagation of elastic waves through the Earth.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30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672" y="790113"/>
            <a:ext cx="10005134" cy="5624508"/>
          </a:xfrm>
        </p:spPr>
      </p:pic>
    </p:spTree>
    <p:extLst>
      <p:ext uri="{BB962C8B-B14F-4D97-AF65-F5344CB8AC3E}">
        <p14:creationId xmlns:p14="http://schemas.microsoft.com/office/powerpoint/2010/main" val="427743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Earthquake prediction is usually defined as the specification&#10;of the time , location , and magnitude of a future earthquak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43" y="164237"/>
            <a:ext cx="11201806" cy="6693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284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616" y="150920"/>
            <a:ext cx="6321056" cy="6632559"/>
          </a:xfrm>
        </p:spPr>
      </p:pic>
    </p:spTree>
    <p:extLst>
      <p:ext uri="{BB962C8B-B14F-4D97-AF65-F5344CB8AC3E}">
        <p14:creationId xmlns:p14="http://schemas.microsoft.com/office/powerpoint/2010/main" val="414080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Chances of fire short-circuit.&#10;Communications such as telephone wires are damaged.&#10;Water pipes, sewers are disrupted&#10;E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729" y="119921"/>
            <a:ext cx="9736039" cy="665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6828" y="199103"/>
            <a:ext cx="10018713" cy="919483"/>
          </a:xfrm>
        </p:spPr>
        <p:txBody>
          <a:bodyPr/>
          <a:lstStyle/>
          <a:p>
            <a:pPr algn="ctr"/>
            <a:r>
              <a:rPr lang="en-US" b="1" dirty="0" smtClean="0"/>
              <a:t>Effect of </a:t>
            </a:r>
            <a:r>
              <a:rPr lang="en-US" b="1" dirty="0" smtClean="0"/>
              <a:t>Earthquake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7849" y="1012053"/>
            <a:ext cx="10541496" cy="5708343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Ground shaking: </a:t>
            </a:r>
            <a:r>
              <a:rPr lang="en-US" sz="2800" dirty="0" smtClean="0"/>
              <a:t>Caused </a:t>
            </a:r>
            <a:r>
              <a:rPr lang="en-US" sz="2800" dirty="0"/>
              <a:t>by Seismic Waves traveling through the Earth.</a:t>
            </a:r>
            <a:endParaRPr lang="en-US" sz="2800" dirty="0" smtClean="0"/>
          </a:p>
          <a:p>
            <a:r>
              <a:rPr lang="en-US" sz="2800" b="1" dirty="0" smtClean="0"/>
              <a:t>Ground </a:t>
            </a:r>
            <a:r>
              <a:rPr lang="en-US" sz="2800" b="1" dirty="0" smtClean="0"/>
              <a:t>rupture: </a:t>
            </a:r>
            <a:r>
              <a:rPr lang="en-US" sz="2800" dirty="0"/>
              <a:t>Occurs when the Earth’s surface </a:t>
            </a:r>
            <a:r>
              <a:rPr lang="en-US" sz="2800" b="1" dirty="0"/>
              <a:t>breaks along a fault line</a:t>
            </a:r>
            <a:r>
              <a:rPr lang="en-US" sz="2800" dirty="0"/>
              <a:t>.</a:t>
            </a:r>
            <a:endParaRPr lang="en-US" sz="2800" dirty="0" smtClean="0"/>
          </a:p>
          <a:p>
            <a:r>
              <a:rPr lang="en-US" sz="2800" b="1" dirty="0" smtClean="0"/>
              <a:t>Landslides: </a:t>
            </a:r>
            <a:r>
              <a:rPr lang="en-US" sz="2800" dirty="0"/>
              <a:t>Shaking makes </a:t>
            </a:r>
            <a:r>
              <a:rPr lang="en-US" sz="2800" b="1" dirty="0"/>
              <a:t>unstable slopes collapse</a:t>
            </a:r>
            <a:r>
              <a:rPr lang="en-US" sz="2800" dirty="0"/>
              <a:t>.</a:t>
            </a:r>
            <a:endParaRPr lang="en-US" sz="2800" b="1" dirty="0"/>
          </a:p>
          <a:p>
            <a:r>
              <a:rPr lang="en-US" sz="2800" b="1" dirty="0" smtClean="0"/>
              <a:t>Tsunamis: </a:t>
            </a:r>
            <a:r>
              <a:rPr lang="en-IN" sz="2800" dirty="0"/>
              <a:t>Caused by </a:t>
            </a:r>
            <a:r>
              <a:rPr lang="en-IN" sz="2800" b="1" dirty="0"/>
              <a:t>underwater earthquakes</a:t>
            </a:r>
            <a:r>
              <a:rPr lang="en-IN" sz="2800" dirty="0" smtClean="0"/>
              <a:t>. </a:t>
            </a:r>
            <a:r>
              <a:rPr lang="en-US" sz="2800" dirty="0"/>
              <a:t>Sudden movement of the sea floor displaces water.</a:t>
            </a:r>
            <a:endParaRPr lang="en-US" sz="2800" b="1" dirty="0" smtClean="0"/>
          </a:p>
          <a:p>
            <a:r>
              <a:rPr lang="en-US" sz="2800" b="1" dirty="0" smtClean="0"/>
              <a:t>Liquefaction: </a:t>
            </a:r>
            <a:r>
              <a:rPr lang="en-US" sz="2800" dirty="0"/>
              <a:t>Soil behaves like a </a:t>
            </a:r>
            <a:r>
              <a:rPr lang="en-US" sz="2800" b="1" dirty="0"/>
              <a:t>liquid instead of solid</a:t>
            </a:r>
            <a:r>
              <a:rPr lang="en-US" sz="2800" dirty="0" smtClean="0"/>
              <a:t>. </a:t>
            </a:r>
            <a:r>
              <a:rPr lang="en-IN" sz="2800" dirty="0"/>
              <a:t>Buildings sink or tilt</a:t>
            </a:r>
            <a:endParaRPr lang="en-US" sz="2800" b="1" dirty="0"/>
          </a:p>
          <a:p>
            <a:r>
              <a:rPr lang="en-US" sz="2800" dirty="0" smtClean="0"/>
              <a:t> </a:t>
            </a:r>
            <a:r>
              <a:rPr lang="en-US" sz="2800" b="1" dirty="0" smtClean="0"/>
              <a:t>Fire:</a:t>
            </a:r>
            <a:r>
              <a:rPr lang="en-US" sz="2800" dirty="0"/>
              <a:t> </a:t>
            </a:r>
            <a:r>
              <a:rPr lang="en-US" sz="2800" dirty="0" smtClean="0"/>
              <a:t>caused by broken pipelines, electrical short circuits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62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Landslides&#10;Ground rapture&#10;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975" y="132729"/>
            <a:ext cx="10151251" cy="6539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134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Excessive&#10;Shaking&#10;Soil liquefaction&#10;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234" y="0"/>
            <a:ext cx="971362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4567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If you are outside;&#10;• Avoid high buildings , walls , power lines and other&#10;objects that could fall and create block.&#10;• Don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479" y="254834"/>
            <a:ext cx="10523095" cy="660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25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6324" y="-61912"/>
            <a:ext cx="10018713" cy="1752599"/>
          </a:xfrm>
        </p:spPr>
        <p:txBody>
          <a:bodyPr/>
          <a:lstStyle/>
          <a:p>
            <a:r>
              <a:rPr lang="en-US" b="1" dirty="0" smtClean="0"/>
              <a:t>Disaster Management Cycle (Earthquake)</a:t>
            </a:r>
            <a:endParaRPr lang="en-US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826" y="1690687"/>
            <a:ext cx="8810562" cy="4100513"/>
          </a:xfrm>
        </p:spPr>
      </p:pic>
    </p:spTree>
    <p:extLst>
      <p:ext uri="{BB962C8B-B14F-4D97-AF65-F5344CB8AC3E}">
        <p14:creationId xmlns:p14="http://schemas.microsoft.com/office/powerpoint/2010/main" val="6429183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194" y="0"/>
            <a:ext cx="10018713" cy="1752599"/>
          </a:xfrm>
        </p:spPr>
        <p:txBody>
          <a:bodyPr/>
          <a:lstStyle/>
          <a:p>
            <a:r>
              <a:rPr lang="en-US" b="1" dirty="0" smtClean="0"/>
              <a:t>Earthquake </a:t>
            </a:r>
            <a:r>
              <a:rPr lang="en-US" b="1" dirty="0" smtClean="0"/>
              <a:t>Preparedness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710084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u="sng" dirty="0" smtClean="0">
              <a:hlinkClick r:id="rId2"/>
            </a:endParaRPr>
          </a:p>
          <a:p>
            <a:endParaRPr lang="en-US" b="1" u="sng" dirty="0">
              <a:hlinkClick r:id="rId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52932" y="1775758"/>
            <a:ext cx="919070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Secure furniture so that it can not fall over and fall down.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Plan safety measures to avoid injuries.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Confirm the strength of your house and walls.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Always be ready to extinguish fires.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Prepare emergency supplies in advance.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Take steps for fire prevention and early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Discuss emergency planning with your family.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Know potential hazards in your area.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Train yourself for emergency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4209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849" y="130074"/>
            <a:ext cx="4341181" cy="6648059"/>
          </a:xfrm>
        </p:spPr>
      </p:pic>
    </p:spTree>
    <p:extLst>
      <p:ext uri="{BB962C8B-B14F-4D97-AF65-F5344CB8AC3E}">
        <p14:creationId xmlns:p14="http://schemas.microsoft.com/office/powerpoint/2010/main" val="54215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7481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Response during Earthquake:</a:t>
            </a:r>
            <a:endParaRPr lang="en-US" sz="4000" b="1" dirty="0"/>
          </a:p>
        </p:txBody>
      </p:sp>
      <p:pic>
        <p:nvPicPr>
          <p:cNvPr id="4" name="Picture 2" descr="Keep calm, switch on the transistor radio and obey&#10;instructions.&#10;Keep away from beaches and low banks of river. A huge&#10;wav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0791" y="1206074"/>
            <a:ext cx="8849031" cy="5132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50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Do not drink water from open containers without having&#10;examined it.&#10;If you aware of people have been buried, tell the resc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67" y="1480424"/>
            <a:ext cx="9631663" cy="4970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80467" y="684152"/>
            <a:ext cx="96316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	Response </a:t>
            </a:r>
            <a:r>
              <a:rPr lang="en-US" sz="3600" b="1" dirty="0"/>
              <a:t>during </a:t>
            </a:r>
            <a:r>
              <a:rPr lang="en-US" sz="3600" b="1" dirty="0" smtClean="0"/>
              <a:t>Earthquake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0268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IF INSIDE IF OUTSIDE&#10;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753" y="223252"/>
            <a:ext cx="10839138" cy="6370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30171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Date Place Scale Damage&#10;April 25,2015 Kathmandu,Nepal 7.9 Massive devastation leads to death of more&#10;than 6000 people&#10;Sept...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709" y="1103220"/>
            <a:ext cx="9370877" cy="5527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62708" y="265160"/>
            <a:ext cx="8902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Response </a:t>
            </a:r>
            <a:r>
              <a:rPr lang="en-US" sz="3600" b="1" dirty="0" smtClean="0"/>
              <a:t>After </a:t>
            </a:r>
            <a:r>
              <a:rPr lang="en-US" sz="3600" b="1" dirty="0" smtClean="0"/>
              <a:t>Earthquake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382082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ANY QUESTION THAT&#10;YOU MAY LIKE TO&#10;ASK PLEASE&#10;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463" y="1412936"/>
            <a:ext cx="7949214" cy="514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58629" y="397896"/>
            <a:ext cx="8332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Response After </a:t>
            </a:r>
            <a:r>
              <a:rPr lang="en-US" sz="3600" b="1" dirty="0" smtClean="0"/>
              <a:t>Earthquake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733618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149" y="310719"/>
            <a:ext cx="10018713" cy="781235"/>
          </a:xfrm>
        </p:spPr>
        <p:txBody>
          <a:bodyPr/>
          <a:lstStyle/>
          <a:p>
            <a:pPr algn="ctr"/>
            <a:r>
              <a:rPr lang="en-US" b="1" dirty="0" smtClean="0"/>
              <a:t>Recovery action after </a:t>
            </a:r>
            <a:r>
              <a:rPr lang="en-US" b="1" dirty="0" smtClean="0"/>
              <a:t>Earthquake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49" y="1328358"/>
            <a:ext cx="10654758" cy="5072442"/>
          </a:xfrm>
        </p:spPr>
        <p:txBody>
          <a:bodyPr>
            <a:noAutofit/>
          </a:bodyPr>
          <a:lstStyle/>
          <a:p>
            <a:r>
              <a:rPr lang="en-US" dirty="0"/>
              <a:t>Restore daily </a:t>
            </a:r>
            <a:r>
              <a:rPr lang="en-US" dirty="0" smtClean="0"/>
              <a:t>life</a:t>
            </a:r>
          </a:p>
          <a:p>
            <a:r>
              <a:rPr lang="en-US" dirty="0" smtClean="0"/>
              <a:t>Reconnecting </a:t>
            </a:r>
            <a:r>
              <a:rPr lang="en-US" dirty="0"/>
              <a:t>with others</a:t>
            </a:r>
            <a:r>
              <a:rPr lang="en-US" dirty="0" smtClean="0"/>
              <a:t>,</a:t>
            </a:r>
          </a:p>
          <a:p>
            <a:r>
              <a:rPr lang="en-US" dirty="0"/>
              <a:t>R</a:t>
            </a:r>
            <a:r>
              <a:rPr lang="en-US" dirty="0" smtClean="0"/>
              <a:t>epairing damage,</a:t>
            </a:r>
          </a:p>
          <a:p>
            <a:r>
              <a:rPr lang="en-US" dirty="0" smtClean="0"/>
              <a:t>Rebuilding </a:t>
            </a:r>
            <a:r>
              <a:rPr lang="en-US" dirty="0"/>
              <a:t>community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Renovation work</a:t>
            </a:r>
          </a:p>
          <a:p>
            <a:r>
              <a:rPr lang="en-US" dirty="0" smtClean="0"/>
              <a:t>Removal of Debris </a:t>
            </a:r>
          </a:p>
          <a:p>
            <a:r>
              <a:rPr lang="en-US" dirty="0" smtClean="0"/>
              <a:t>Rescue People</a:t>
            </a:r>
          </a:p>
          <a:p>
            <a:r>
              <a:rPr lang="en-US" dirty="0" smtClean="0"/>
              <a:t> </a:t>
            </a:r>
            <a:r>
              <a:rPr lang="en-US" dirty="0"/>
              <a:t>In the days and weeks that follow a big </a:t>
            </a:r>
            <a:r>
              <a:rPr lang="en-US" b="1" dirty="0"/>
              <a:t>earthquake</a:t>
            </a:r>
            <a:r>
              <a:rPr lang="en-US" dirty="0"/>
              <a:t>, your family, friends and neighbors can come together to start the process of </a:t>
            </a:r>
            <a:r>
              <a:rPr lang="en-US" b="1" dirty="0"/>
              <a:t>recovery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28737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9998"/>
          </a:xfrm>
        </p:spPr>
        <p:txBody>
          <a:bodyPr>
            <a:normAutofit/>
          </a:bodyPr>
          <a:lstStyle/>
          <a:p>
            <a:r>
              <a:rPr lang="en-US" b="1" dirty="0" smtClean="0"/>
              <a:t>Mitigation measures for earthquake: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5780" y="1445342"/>
            <a:ext cx="9348019" cy="48079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smtClean="0"/>
              <a:t>Mitigation</a:t>
            </a:r>
            <a:r>
              <a:rPr lang="en-US" b="1" dirty="0"/>
              <a:t> measures include:</a:t>
            </a:r>
            <a:endParaRPr lang="en-US" dirty="0"/>
          </a:p>
          <a:p>
            <a:r>
              <a:rPr lang="en-US" dirty="0"/>
              <a:t>Hazard mapping.</a:t>
            </a:r>
          </a:p>
          <a:p>
            <a:r>
              <a:rPr lang="en-US" dirty="0"/>
              <a:t>Adoption and enforcement of land use and zoning practices.</a:t>
            </a:r>
          </a:p>
          <a:p>
            <a:r>
              <a:rPr lang="en-US" dirty="0" smtClean="0"/>
              <a:t>Implementing </a:t>
            </a:r>
            <a:r>
              <a:rPr lang="en-US" dirty="0"/>
              <a:t>and enforcing building codes</a:t>
            </a:r>
            <a:r>
              <a:rPr lang="en-US" dirty="0" smtClean="0"/>
              <a:t>.</a:t>
            </a:r>
          </a:p>
          <a:p>
            <a:r>
              <a:rPr lang="en-US" dirty="0"/>
              <a:t>The mitigation strategy is made up of three main required components</a:t>
            </a:r>
            <a:r>
              <a:rPr lang="en-US" dirty="0" smtClean="0"/>
              <a:t>:</a:t>
            </a:r>
          </a:p>
          <a:p>
            <a:r>
              <a:rPr lang="en-US" dirty="0" smtClean="0"/>
              <a:t> </a:t>
            </a:r>
            <a:r>
              <a:rPr lang="en-US" dirty="0"/>
              <a:t>mitigation goals, mitigation actions</a:t>
            </a:r>
            <a:r>
              <a:rPr lang="en-US" dirty="0" smtClean="0"/>
              <a:t>,</a:t>
            </a:r>
          </a:p>
          <a:p>
            <a:r>
              <a:rPr lang="en-US" dirty="0" smtClean="0"/>
              <a:t>action</a:t>
            </a:r>
            <a:r>
              <a:rPr lang="en-US" dirty="0"/>
              <a:t> </a:t>
            </a:r>
            <a:r>
              <a:rPr lang="en-US" b="1" dirty="0"/>
              <a:t>plan</a:t>
            </a:r>
            <a:r>
              <a:rPr lang="en-US" dirty="0"/>
              <a:t> for </a:t>
            </a:r>
            <a:r>
              <a:rPr lang="en-US" b="1" dirty="0"/>
              <a:t>implementation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provide the framework to identify, prioritize and implement actions to reduce risk to hazards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67665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939"/>
            <a:ext cx="10515600" cy="932733"/>
          </a:xfrm>
        </p:spPr>
        <p:txBody>
          <a:bodyPr/>
          <a:lstStyle/>
          <a:p>
            <a:r>
              <a:rPr lang="en-US" b="1" dirty="0" smtClean="0"/>
              <a:t>Mitigation measures for earthquake: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3672"/>
            <a:ext cx="10515600" cy="5324168"/>
          </a:xfrm>
        </p:spPr>
        <p:txBody>
          <a:bodyPr>
            <a:normAutofit/>
          </a:bodyPr>
          <a:lstStyle/>
          <a:p>
            <a:r>
              <a:rPr lang="en-US" dirty="0"/>
              <a:t>Create a Flexible Foundation. One way to resist ground forces is to “lift” the </a:t>
            </a:r>
            <a:r>
              <a:rPr lang="en-US" b="1" dirty="0"/>
              <a:t>building's</a:t>
            </a:r>
            <a:r>
              <a:rPr lang="en-US" dirty="0"/>
              <a:t> foundation above the earth. </a:t>
            </a:r>
          </a:p>
          <a:p>
            <a:r>
              <a:rPr lang="en-US" dirty="0"/>
              <a:t>Counter Forces with Damping.</a:t>
            </a:r>
          </a:p>
          <a:p>
            <a:r>
              <a:rPr lang="en-US" dirty="0"/>
              <a:t>Shield </a:t>
            </a:r>
            <a:r>
              <a:rPr lang="en-US" b="1" dirty="0"/>
              <a:t>Buildings</a:t>
            </a:r>
            <a:r>
              <a:rPr lang="en-US" dirty="0"/>
              <a:t> from Vibrations.</a:t>
            </a:r>
          </a:p>
          <a:p>
            <a:r>
              <a:rPr lang="en-US" dirty="0"/>
              <a:t>Reinforce the </a:t>
            </a:r>
            <a:r>
              <a:rPr lang="en-US" b="1" dirty="0"/>
              <a:t>Building's</a:t>
            </a:r>
            <a:r>
              <a:rPr lang="en-US" dirty="0"/>
              <a:t> Structure.</a:t>
            </a:r>
          </a:p>
          <a:p>
            <a:r>
              <a:rPr lang="en-US" dirty="0" smtClean="0"/>
              <a:t>The </a:t>
            </a:r>
            <a:r>
              <a:rPr lang="en-US" dirty="0"/>
              <a:t>most common (and effective) </a:t>
            </a:r>
            <a:r>
              <a:rPr lang="en-US" b="1" dirty="0"/>
              <a:t>mitigation</a:t>
            </a:r>
            <a:r>
              <a:rPr lang="en-US" dirty="0"/>
              <a:t> measures are the enforcement of seismic codes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en-US" dirty="0"/>
              <a:t>land-use </a:t>
            </a:r>
            <a:r>
              <a:rPr lang="en-US" dirty="0" smtClean="0"/>
              <a:t>zoning, and </a:t>
            </a:r>
            <a:r>
              <a:rPr lang="en-US" dirty="0"/>
              <a:t>engineering works to strengthen existing structures and stabilize hitherto unstable </a:t>
            </a:r>
            <a:r>
              <a:rPr lang="en-US" b="1" dirty="0"/>
              <a:t>ground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Some measures are applicable to new development while others to existing development.</a:t>
            </a:r>
          </a:p>
        </p:txBody>
      </p:sp>
    </p:spTree>
    <p:extLst>
      <p:ext uri="{BB962C8B-B14F-4D97-AF65-F5344CB8AC3E}">
        <p14:creationId xmlns:p14="http://schemas.microsoft.com/office/powerpoint/2010/main" val="3157806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Disaster Management Earthquake by ujjwal pate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093" y="147281"/>
            <a:ext cx="10762938" cy="645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4998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522" y="2718260"/>
            <a:ext cx="10018713" cy="31242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dirty="0" smtClean="0"/>
              <a:t>Thank you 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360564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1674</TotalTime>
  <Words>812</Words>
  <Application>Microsoft Office PowerPoint</Application>
  <PresentationFormat>Widescreen</PresentationFormat>
  <Paragraphs>113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Earthquake</vt:lpstr>
      <vt:lpstr>PowerPoint Presentation</vt:lpstr>
      <vt:lpstr>PowerPoint Presentation</vt:lpstr>
      <vt:lpstr>Term related to Earthquake:</vt:lpstr>
      <vt:lpstr>PowerPoint Presentation</vt:lpstr>
      <vt:lpstr>How Earthquake Occurs?</vt:lpstr>
      <vt:lpstr>PowerPoint Presentation</vt:lpstr>
      <vt:lpstr>Classification of Faults</vt:lpstr>
      <vt:lpstr>Causes of Earthquake</vt:lpstr>
      <vt:lpstr>PowerPoint Presentation</vt:lpstr>
      <vt:lpstr>PowerPoint Presentation</vt:lpstr>
      <vt:lpstr>PowerPoint Presentation</vt:lpstr>
      <vt:lpstr>Types of Seismic waves</vt:lpstr>
      <vt:lpstr>PowerPoint Presentation</vt:lpstr>
      <vt:lpstr>PowerPoint Presentation</vt:lpstr>
      <vt:lpstr>PowerPoint Presentation</vt:lpstr>
      <vt:lpstr>PowerPoint Presentation</vt:lpstr>
      <vt:lpstr>Strength of Earthquake</vt:lpstr>
      <vt:lpstr>PowerPoint Presentation</vt:lpstr>
      <vt:lpstr>PowerPoint Presentation</vt:lpstr>
      <vt:lpstr>PowerPoint Presentation</vt:lpstr>
      <vt:lpstr>PowerPoint Presentation</vt:lpstr>
      <vt:lpstr>Effect of Earthquake</vt:lpstr>
      <vt:lpstr>PowerPoint Presentation</vt:lpstr>
      <vt:lpstr>PowerPoint Presentation</vt:lpstr>
      <vt:lpstr>PowerPoint Presentation</vt:lpstr>
      <vt:lpstr>Disaster Management Cycle (Earthquake)</vt:lpstr>
      <vt:lpstr>Earthquake Preparedness</vt:lpstr>
      <vt:lpstr>PowerPoint Presentation</vt:lpstr>
      <vt:lpstr>Response during Earthquake:</vt:lpstr>
      <vt:lpstr>PowerPoint Presentation</vt:lpstr>
      <vt:lpstr>PowerPoint Presentation</vt:lpstr>
      <vt:lpstr>PowerPoint Presentation</vt:lpstr>
      <vt:lpstr>PowerPoint Presentation</vt:lpstr>
      <vt:lpstr>Recovery action after Earthquake</vt:lpstr>
      <vt:lpstr>Mitigation measures for earthquake:</vt:lpstr>
      <vt:lpstr>Mitigation measures for earthquake: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Dr.Rosysmita</cp:lastModifiedBy>
  <cp:revision>78</cp:revision>
  <dcterms:created xsi:type="dcterms:W3CDTF">2020-09-20T09:09:14Z</dcterms:created>
  <dcterms:modified xsi:type="dcterms:W3CDTF">2026-03-28T09:00:31Z</dcterms:modified>
</cp:coreProperties>
</file>